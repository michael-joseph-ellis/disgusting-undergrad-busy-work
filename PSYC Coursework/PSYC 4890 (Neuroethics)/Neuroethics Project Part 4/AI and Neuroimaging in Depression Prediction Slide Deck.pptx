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f3f598ce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f3f598ce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f3f598ce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f3f598ce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3f598ced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f3f598ced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hyperlink" Target="https://doi.org/10.3389/fpsyt.2025.1694762" TargetMode="External"/><Relationship Id="rId11" Type="http://schemas.openxmlformats.org/officeDocument/2006/relationships/hyperlink" Target="https://doi.org/10.1016/j.jad.2020.02.037" TargetMode="External"/><Relationship Id="rId22" Type="http://schemas.openxmlformats.org/officeDocument/2006/relationships/hyperlink" Target="https://doi.org/10.1016/j.jpsychires.2015.01.015" TargetMode="External"/><Relationship Id="rId10" Type="http://schemas.openxmlformats.org/officeDocument/2006/relationships/hyperlink" Target="https://doi.org/10.1017/gmh.2024.136" TargetMode="External"/><Relationship Id="rId21" Type="http://schemas.openxmlformats.org/officeDocument/2006/relationships/hyperlink" Target="https://doi.org/10.1016/j.jpsychires.2015.01.015" TargetMode="External"/><Relationship Id="rId13" Type="http://schemas.openxmlformats.org/officeDocument/2006/relationships/hyperlink" Target="https://doi.org/10.1109/TAFFC.2025.3571697" TargetMode="External"/><Relationship Id="rId12" Type="http://schemas.openxmlformats.org/officeDocument/2006/relationships/hyperlink" Target="https://doi.org/10.1016/j.jad.2020.02.037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080/23279095.2025.2457999" TargetMode="External"/><Relationship Id="rId4" Type="http://schemas.openxmlformats.org/officeDocument/2006/relationships/hyperlink" Target="https://doi.org/10.1080/23279095.2025.2457999" TargetMode="External"/><Relationship Id="rId9" Type="http://schemas.openxmlformats.org/officeDocument/2006/relationships/hyperlink" Target="https://doi.org/10.1017/gmh.2024.136" TargetMode="External"/><Relationship Id="rId15" Type="http://schemas.openxmlformats.org/officeDocument/2006/relationships/hyperlink" Target="https://doi.org/10.1080/09540261.2024.2384727" TargetMode="External"/><Relationship Id="rId14" Type="http://schemas.openxmlformats.org/officeDocument/2006/relationships/hyperlink" Target="https://doi.org/10.1109/TAFFC.2025.3571697" TargetMode="External"/><Relationship Id="rId17" Type="http://schemas.openxmlformats.org/officeDocument/2006/relationships/hyperlink" Target="https://doi.org/10.3389/fpsyt.2015.00021" TargetMode="External"/><Relationship Id="rId16" Type="http://schemas.openxmlformats.org/officeDocument/2006/relationships/hyperlink" Target="https://doi.org/10.1080/09540261.2024.2384727" TargetMode="External"/><Relationship Id="rId5" Type="http://schemas.openxmlformats.org/officeDocument/2006/relationships/hyperlink" Target="https://doi.org/10.1016/j.bbr.2024.115325" TargetMode="External"/><Relationship Id="rId19" Type="http://schemas.openxmlformats.org/officeDocument/2006/relationships/hyperlink" Target="https://doi.org/10.3389/fpsyt.2025.1694762" TargetMode="External"/><Relationship Id="rId6" Type="http://schemas.openxmlformats.org/officeDocument/2006/relationships/hyperlink" Target="https://doi.org/10.1016/j.bbr.2024.115325" TargetMode="External"/><Relationship Id="rId18" Type="http://schemas.openxmlformats.org/officeDocument/2006/relationships/hyperlink" Target="https://doi.org/10.3389/fpsyt.2015.00021" TargetMode="External"/><Relationship Id="rId7" Type="http://schemas.openxmlformats.org/officeDocument/2006/relationships/hyperlink" Target="https://doi.org/10.1007/s00406-025-01990-5" TargetMode="External"/><Relationship Id="rId8" Type="http://schemas.openxmlformats.org/officeDocument/2006/relationships/hyperlink" Target="https://doi.org/10.1007/s00406-025-01990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92975" y="-99575"/>
            <a:ext cx="42756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AI and Neuroimaging in Depression Prediction</a:t>
            </a:r>
            <a:endParaRPr sz="312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55225" y="14889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Michael Ellis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92975" y="2524300"/>
            <a:ext cx="3585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Neuroethics Problem</a:t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accent4"/>
                </a:solidFill>
              </a:rPr>
              <a:t>Major Depressive Disorder (MDD) is commonly diagnosed using </a:t>
            </a:r>
            <a:r>
              <a:rPr b="1" lang="en" sz="900">
                <a:solidFill>
                  <a:schemeClr val="accent4"/>
                </a:solidFill>
              </a:rPr>
              <a:t>subjective symptom-based criteria</a:t>
            </a:r>
            <a:r>
              <a:rPr lang="en" sz="900">
                <a:solidFill>
                  <a:schemeClr val="accent4"/>
                </a:solidFill>
              </a:rPr>
              <a:t>, which can delay accurate diagnosis.</a:t>
            </a:r>
            <a:br>
              <a:rPr lang="en" sz="900">
                <a:solidFill>
                  <a:schemeClr val="accent4"/>
                </a:solidFill>
              </a:rPr>
            </a:br>
            <a:endParaRPr sz="900">
              <a:solidFill>
                <a:schemeClr val="accent4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accent4"/>
                </a:solidFill>
              </a:rPr>
              <a:t>Artificial intelligence (AI) systems can analyze </a:t>
            </a:r>
            <a:r>
              <a:rPr b="1" lang="en" sz="900">
                <a:solidFill>
                  <a:schemeClr val="accent4"/>
                </a:solidFill>
              </a:rPr>
              <a:t>neuroimaging and behavioral data</a:t>
            </a:r>
            <a:r>
              <a:rPr lang="en" sz="900">
                <a:solidFill>
                  <a:schemeClr val="accent4"/>
                </a:solidFill>
              </a:rPr>
              <a:t> to detect patterns associated with depression.</a:t>
            </a:r>
            <a:br>
              <a:rPr lang="en" sz="900">
                <a:solidFill>
                  <a:schemeClr val="accent4"/>
                </a:solidFill>
              </a:rPr>
            </a:br>
            <a:endParaRPr sz="900">
              <a:solidFill>
                <a:schemeClr val="accent4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Proxima Nova"/>
              <a:buChar char="●"/>
            </a:pPr>
            <a:r>
              <a:rPr lang="en" sz="900">
                <a:solidFill>
                  <a:schemeClr val="accent4"/>
                </a:solidFill>
              </a:rPr>
              <a:t>Predictive mental health tools may enable </a:t>
            </a:r>
            <a:r>
              <a:rPr b="1" lang="en" sz="900">
                <a:solidFill>
                  <a:schemeClr val="accent4"/>
                </a:solidFill>
              </a:rPr>
              <a:t>earlier detection and intervention</a:t>
            </a:r>
            <a:r>
              <a:rPr lang="en" sz="900">
                <a:solidFill>
                  <a:schemeClr val="accent4"/>
                </a:solidFill>
              </a:rPr>
              <a:t>, but also raise concerns about privacy, bias, and stigma.</a:t>
            </a:r>
            <a:endParaRPr sz="900">
              <a:solidFill>
                <a:schemeClr val="accent4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778275" y="2524300"/>
            <a:ext cx="3585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Scientific Background</a:t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chemeClr val="accent4"/>
                </a:solidFill>
              </a:rPr>
              <a:t>Machine learning models can classify depression using </a:t>
            </a:r>
            <a:r>
              <a:rPr b="1" lang="en" sz="800">
                <a:solidFill>
                  <a:schemeClr val="accent4"/>
                </a:solidFill>
              </a:rPr>
              <a:t>MRI brain structure data</a:t>
            </a:r>
            <a:r>
              <a:rPr lang="en" sz="800">
                <a:solidFill>
                  <a:schemeClr val="accent4"/>
                </a:solidFill>
              </a:rPr>
              <a:t> (Wu et al., 2015).</a:t>
            </a:r>
            <a:br>
              <a:rPr lang="en" sz="800">
                <a:solidFill>
                  <a:schemeClr val="accent4"/>
                </a:solidFill>
              </a:rPr>
            </a:br>
            <a:endParaRPr sz="800">
              <a:solidFill>
                <a:schemeClr val="accent4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chemeClr val="accent4"/>
                </a:solidFill>
              </a:rPr>
              <a:t>Brain network connectivity analysis using </a:t>
            </a:r>
            <a:r>
              <a:rPr b="1" lang="en" sz="800">
                <a:solidFill>
                  <a:schemeClr val="accent4"/>
                </a:solidFill>
              </a:rPr>
              <a:t>diffusion-weighted imaging</a:t>
            </a:r>
            <a:r>
              <a:rPr lang="en" sz="800">
                <a:solidFill>
                  <a:schemeClr val="accent4"/>
                </a:solidFill>
              </a:rPr>
              <a:t> has identified abnormal neural connectivity in MDD (Sacchet et al., 2015).</a:t>
            </a:r>
            <a:br>
              <a:rPr lang="en" sz="800">
                <a:solidFill>
                  <a:schemeClr val="accent4"/>
                </a:solidFill>
              </a:rPr>
            </a:br>
            <a:endParaRPr sz="800">
              <a:solidFill>
                <a:schemeClr val="accent4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chemeClr val="accent4"/>
                </a:solidFill>
              </a:rPr>
              <a:t>EEG-based machine learning models detect neural biomarkers associated with emotional regulation and cognitive processing (Ahire, 2025; Boby &amp; Veerasingam, 2025).</a:t>
            </a:r>
            <a:br>
              <a:rPr lang="en" sz="800">
                <a:solidFill>
                  <a:schemeClr val="accent4"/>
                </a:solidFill>
              </a:rPr>
            </a:br>
            <a:endParaRPr sz="800">
              <a:solidFill>
                <a:schemeClr val="accent4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chemeClr val="accent4"/>
                </a:solidFill>
              </a:rPr>
              <a:t>Multimodal models combining </a:t>
            </a:r>
            <a:r>
              <a:rPr b="1" lang="en" sz="800">
                <a:solidFill>
                  <a:schemeClr val="accent4"/>
                </a:solidFill>
              </a:rPr>
              <a:t>speech, behavioral signals, and clinical data</a:t>
            </a:r>
            <a:r>
              <a:rPr lang="en" sz="800">
                <a:solidFill>
                  <a:schemeClr val="accent4"/>
                </a:solidFill>
              </a:rPr>
              <a:t> improve diagnostic accuracy (Liu et al., 2025; Weber et al., 2025).</a:t>
            </a:r>
            <a:endParaRPr sz="900">
              <a:solidFill>
                <a:schemeClr val="accent4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575" y="466850"/>
            <a:ext cx="3030624" cy="20204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4294967295" type="title"/>
          </p:nvPr>
        </p:nvSpPr>
        <p:spPr>
          <a:xfrm>
            <a:off x="0" y="4892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20">
                <a:solidFill>
                  <a:schemeClr val="accent4"/>
                </a:solidFill>
              </a:rPr>
              <a:t>Citations: (Wu et al., 2015; Sacchet et al., 2015; Ahire, 2025; Boby &amp; Veerasingam, 2025; Liu et al., 2025; Weber et al., 2025)</a:t>
            </a:r>
            <a:endParaRPr sz="72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Stakeholders and Ethical Risks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Stakeholders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Patients and adolescents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potential early detection but risk of stigma and labeling.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Clinicians and general practitioners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may rely on AI tools for diagnostic support.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developers and researchers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responsible for model design and validation.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 systems and policymakers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regulate implementation and data governance.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 companies and employers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potential misuse of predictive health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Ethical Issue: Predictive Labeling and Stigma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tools may classify individuals as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“high risk” for depression before symptoms appear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Adolescents may experience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identity harm or social stigma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labeled prematurely.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data could potentially influence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education, employment, or insurance opportunities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Ethical concerns relate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privacy, fairness, and patient autonomy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0" y="477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20"/>
              <a:t>Citations: </a:t>
            </a:r>
            <a:r>
              <a:rPr lang="en" sz="720"/>
              <a:t>(Kohrt et al., 2025; Ricci et al., 2025; Eder &amp; Dong, 2026)</a:t>
            </a:r>
            <a:endParaRPr sz="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 and Implications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42603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Direction 1 — Explainable AI</a:t>
            </a:r>
            <a:endParaRPr b="1"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Char char="●"/>
            </a:pPr>
            <a:r>
              <a:rPr lang="en" sz="8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interpretable machine learning systems that clinicians can understand.</a:t>
            </a:r>
            <a:br>
              <a:rPr lang="en" sz="8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Char char="●"/>
            </a:pPr>
            <a:r>
              <a:rPr lang="en" sz="8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transparency in how predictions are generated.</a:t>
            </a:r>
            <a:br>
              <a:rPr lang="en" sz="8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Char char="●"/>
            </a:pPr>
            <a:r>
              <a:rPr lang="en" sz="8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trust and responsible use in clinical decision-making.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60"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572000" y="1152475"/>
            <a:ext cx="42603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Direction 2 — Diverse and Global Datasets</a:t>
            </a:r>
            <a:endParaRPr b="1" sz="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Char char="●"/>
            </a:pPr>
            <a:r>
              <a:rPr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datasets are often </a:t>
            </a:r>
            <a:r>
              <a:rPr b="1"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and geographically limited</a:t>
            </a:r>
            <a:r>
              <a:rPr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Char char="●"/>
            </a:pPr>
            <a:r>
              <a:rPr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 and more diverse datasets are needed to reduce </a:t>
            </a:r>
            <a:r>
              <a:rPr b="1"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algorithmic bias</a:t>
            </a:r>
            <a:r>
              <a:rPr lang="en" sz="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improve reliability.</a:t>
            </a:r>
            <a:endParaRPr sz="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2690100"/>
            <a:ext cx="42603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50"/>
              <a:t>Broader Implications</a:t>
            </a:r>
            <a:endParaRPr b="1" sz="850"/>
          </a:p>
          <a:p>
            <a:pPr indent="-2825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0"/>
              <a:buChar char="●"/>
            </a:pPr>
            <a:r>
              <a:rPr lang="en" sz="850"/>
              <a:t>Longitudinal studies to evaluate long-term outcomes of AI-assisted diagnosis.</a:t>
            </a:r>
            <a:br>
              <a:rPr lang="en" sz="850"/>
            </a:br>
            <a:endParaRPr sz="850"/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/>
              <a:t>Integration of AI tools as </a:t>
            </a:r>
            <a:r>
              <a:rPr b="1" lang="en" sz="850"/>
              <a:t>clinical support systems rather than replacements for clinicians</a:t>
            </a:r>
            <a:r>
              <a:rPr lang="en" sz="850"/>
              <a:t>.</a:t>
            </a:r>
            <a:endParaRPr sz="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700" y="2312825"/>
            <a:ext cx="3754176" cy="25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0" y="477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20"/>
              <a:t>Citations: </a:t>
            </a:r>
            <a:r>
              <a:rPr lang="en" sz="720"/>
              <a:t>(Lee et al., 2020; Kohrt et al., 2025; Ricci et al., 2025; Weber et al., 2025)</a:t>
            </a:r>
            <a:endParaRPr sz="7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-152400" lvl="0" marL="152400" marR="22860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Ahire, N. (2025). Eeg-derived brainwave patterns for depression diagnosis via hybrid machine learning and deep learning frameworks.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Neuropsychology: Adult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pages 1–10. PMID: 39879638.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https://doi.org/10.1080/23279095.2025.2457999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Boby, K. and Veerasingam, S. (2025). Depression diagnosis: Eeg-based cognitive biomarkers and machine learning.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Behavioural Brain Research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478:115325.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https://doi.org/10.1016/j.bbr.2024.115325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just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Eder, J. and Dong, M. S. (2026). A multimodal approach to depression diagnosis: insights from machine learning.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European Archives of Psychiatry and Clinical Neuroscience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276(2):407–420.</a:t>
            </a: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https://doi.org/10.1007/s00406-025-01990-5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Kohrt, B. A., Wahid, S. S., Ottman, K., Burgess, A., Viduani, A., Martini, T., Benetti, S., Momodu, O., Bohara, J., Neupane, V., Gautam, K., Adewuya, A., Mondelli, V., Kieling, C., and Fisher,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22860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L. (2025). No prediction without prevention: A global qualitative study of attitudes toward using a prediction tool for risk of developing depression during adolescence.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Mental Health (Cambridge, England)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11:e129.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https://doi.org/10.1017/gmh.2024.136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Lee, Y., Ragguett, R.-M., Mansur, R. B., Boutilier, J. J., Rosenblat, J. D., Trevizol, A., Brietzke, E., Lin, K., Pan, Z., Subramaniapillai, M., Chan, T. C., Fus, D., Park, C., Musial, N., Zucker-man, H., Chin-Hung Chen, V., Ho, R., Rong, C., and McIntyre, R. S. (2020). Corrigendum to “applications of machine learning algorithms to predict therapeutic outcomes in depression: A meta-analysis and systematic review”.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Affective Disorders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274:1211–1215.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https://doi.org/10.1016/j.jad.2020.02.037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Liu, L., Chen, S., Chen, K., Xu, J., and Chen, X. (2025). Catching the blackdog easily: A conve-nient depression diagnosis method based on audio-visual deep learning.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Transactions on Affective Computing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16(4):3095–3109.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https://doi.org/10.1109/TAFFC.2025.3571697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Ricci, F., Giallanella, D., Gaggiano, C., Torales, J., Castaldelli-Maia, J. M., Liebrenz, M., Bener, A., and Ventriglio, A. (2025). Artificial intelligence in the detection and treatment of depressive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228600" rtl="0" algn="just">
              <a:lnSpc>
                <a:spcPct val="17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disorders: a narrative review of literature.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International Review of Psychiatry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37(1):39–51. PMID: 40035375.</a:t>
            </a: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https://doi.org/10.1080/09540261.2024.2384727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Sacchet, M. D., Prasad, G., Foland-Ross, L. C., Thompson, P. M., and Gotlib, I. H. (2015). Support vector machine classification of major depressive disorder using diffusion-weighted neuroimag-ing and graph theory.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Frontiers in Psychiatry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6.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https://doi.org/10.3389/fpsyt.2015.00021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Weber, J., Weber, M., and Lopez Alcaraz, J. M. (2025). Depression diagnosis from patient inter-views using multimodal machine learning.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Frontiers in Psychiatry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16.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https://doi.org/10.3389/fpsyt.2025.1694762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Wu, M.-J., Wu, H. E., Mwangi, B., Sanches, M., Selvaraj, S., Zunta-Soares, G. B., and Soares,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228600" rtl="0" algn="l">
              <a:lnSpc>
                <a:spcPct val="17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C. (2015). Prediction of pediatric unipolar depression using multiple neuromorphometric measurements: A pattern classification approach.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Psychiatric Research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62:84–91.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https://doi.org/10.1016/j.jpsychires.2015.01.015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